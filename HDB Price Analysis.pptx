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obo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11" Type="http://schemas.openxmlformats.org/officeDocument/2006/relationships/slide" Target="slides/slide6.xml"/><Relationship Id="rId22" Type="http://schemas.openxmlformats.org/officeDocument/2006/relationships/font" Target="fonts/Roboto-boldItalic.fntdata"/><Relationship Id="rId10" Type="http://schemas.openxmlformats.org/officeDocument/2006/relationships/slide" Target="slides/slide5.xml"/><Relationship Id="rId21" Type="http://schemas.openxmlformats.org/officeDocument/2006/relationships/font" Target="fonts/Robo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c6f9e470d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c6f9e47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336f9154f_0_38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336f9154f_0_3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b336f9154f_0_35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b336f9154f_0_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336f9154f_0_41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b336f9154f_0_4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336f9154f_0_42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b336f9154f_0_4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336f9154f_0_36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336f9154f_0_3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336f9154f_0_45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b336f9154f_0_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336f9154f_0_29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b336f9154f_0_2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336f9154f_0_12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336f9154f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b336f9154f_0_20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b336f9154f_0_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b336f9154f_0_22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b336f9154f_0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b336f9154f_0_14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b336f9154f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c6f9e470d_0_4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c6f9e470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1662225" y="1732950"/>
            <a:ext cx="62994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500">
                <a:latin typeface="Arial"/>
                <a:ea typeface="Arial"/>
                <a:cs typeface="Arial"/>
                <a:sym typeface="Arial"/>
              </a:rPr>
              <a:t>HDB Resale Price Prediction &amp; Analysis </a:t>
            </a:r>
            <a:endParaRPr sz="2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Methodology</a:t>
            </a:r>
            <a:endParaRPr/>
          </a:p>
        </p:txBody>
      </p:sp>
      <p:sp>
        <p:nvSpPr>
          <p:cNvPr id="91" name="Google Shape;91;p14"/>
          <p:cNvSpPr/>
          <p:nvPr/>
        </p:nvSpPr>
        <p:spPr>
          <a:xfrm>
            <a:off x="432350" y="1304875"/>
            <a:ext cx="1906800" cy="607800"/>
          </a:xfrm>
          <a:prstGeom prst="homePlate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4"/>
          <p:cNvSpPr txBox="1"/>
          <p:nvPr>
            <p:ph idx="4294967295" type="body"/>
          </p:nvPr>
        </p:nvSpPr>
        <p:spPr>
          <a:xfrm>
            <a:off x="432350" y="1451576"/>
            <a:ext cx="2257200" cy="31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Data Collection</a:t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93" name="Google Shape;93;p14"/>
          <p:cNvSpPr txBox="1"/>
          <p:nvPr>
            <p:ph idx="4294967295" type="body"/>
          </p:nvPr>
        </p:nvSpPr>
        <p:spPr>
          <a:xfrm>
            <a:off x="413750" y="1912675"/>
            <a:ext cx="18243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Dataset: HDB resale transactions 1990 to 2020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 MRT stations and year of opening 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 Primary School list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Onemap for geo encoding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HDB RPI to adjust for price inflation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800"/>
              </a:spcAft>
              <a:buNone/>
            </a:pPr>
            <a:r>
              <a:t/>
            </a:r>
            <a:endParaRPr b="1" sz="1600"/>
          </a:p>
        </p:txBody>
      </p:sp>
      <p:sp>
        <p:nvSpPr>
          <p:cNvPr id="94" name="Google Shape;94;p14"/>
          <p:cNvSpPr/>
          <p:nvPr/>
        </p:nvSpPr>
        <p:spPr>
          <a:xfrm>
            <a:off x="2339152" y="1304875"/>
            <a:ext cx="27606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>
            <p:ph idx="4294967295" type="body"/>
          </p:nvPr>
        </p:nvSpPr>
        <p:spPr>
          <a:xfrm>
            <a:off x="2752000" y="1451575"/>
            <a:ext cx="1998000" cy="3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Data Cleaning + Feature Engineering</a:t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96" name="Google Shape;96;p14"/>
          <p:cNvSpPr txBox="1"/>
          <p:nvPr>
            <p:ph idx="4294967295" type="body"/>
          </p:nvPr>
        </p:nvSpPr>
        <p:spPr>
          <a:xfrm>
            <a:off x="2471350" y="1828200"/>
            <a:ext cx="2458200" cy="148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cleaning: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 standardise data value format</a:t>
            </a:r>
            <a:endParaRPr sz="100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Imputed Target Feature: 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'Adjusted_price_psm',</a:t>
            </a:r>
            <a:endParaRPr sz="100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</a:rPr>
              <a:t>Features: 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'town', 'flat_type', 'block', 'street_name', 'storey_range', 'Flat_model','floor_area_sqm'</a:t>
            </a:r>
            <a:endParaRPr sz="100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b="1" lang="en" sz="1000">
                <a:solidFill>
                  <a:srgbClr val="000000"/>
                </a:solidFill>
              </a:rPr>
              <a:t>Feature Imputed</a:t>
            </a:r>
            <a:r>
              <a:rPr b="1"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'storey_mid', 'lease_commence_date', 'year', 'remaining_lease_years', 'nearest_mrt_dist_km', 'nearest_primary_dist_km', 'dist_to_city_centre_km'</a:t>
            </a:r>
            <a:endParaRPr sz="1000">
              <a:solidFill>
                <a:srgbClr val="000000"/>
              </a:solidFill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5162850" y="1332775"/>
            <a:ext cx="16899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4"/>
          <p:cNvSpPr txBox="1"/>
          <p:nvPr>
            <p:ph idx="4294967295" type="body"/>
          </p:nvPr>
        </p:nvSpPr>
        <p:spPr>
          <a:xfrm>
            <a:off x="5424425" y="1542475"/>
            <a:ext cx="1286400" cy="3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Modeling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9" name="Google Shape;99;p14"/>
          <p:cNvSpPr txBox="1"/>
          <p:nvPr>
            <p:ph idx="4294967295" type="body"/>
          </p:nvPr>
        </p:nvSpPr>
        <p:spPr>
          <a:xfrm>
            <a:off x="5061750" y="1912675"/>
            <a:ext cx="17910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Baseline model: </a:t>
            </a:r>
            <a:r>
              <a:rPr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Ridge Regression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Advanced model: </a:t>
            </a:r>
            <a:r>
              <a:rPr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XGBoost Regressor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Evaluation metric: </a:t>
            </a:r>
            <a:r>
              <a:rPr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MAE, RMSE, R2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800"/>
              </a:spcAft>
              <a:buNone/>
            </a:pPr>
            <a:r>
              <a:t/>
            </a:r>
            <a:endParaRPr b="1" sz="1000"/>
          </a:p>
        </p:txBody>
      </p:sp>
      <p:sp>
        <p:nvSpPr>
          <p:cNvPr id="100" name="Google Shape;100;p14"/>
          <p:cNvSpPr/>
          <p:nvPr/>
        </p:nvSpPr>
        <p:spPr>
          <a:xfrm>
            <a:off x="6710825" y="1332775"/>
            <a:ext cx="21849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Graph based Analysis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type="title"/>
          </p:nvPr>
        </p:nvSpPr>
        <p:spPr>
          <a:xfrm>
            <a:off x="311700" y="410000"/>
            <a:ext cx="8520600" cy="6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Exploratory Data Analysis I</a:t>
            </a:r>
            <a:endParaRPr b="1" sz="1600"/>
          </a:p>
        </p:txBody>
      </p:sp>
      <p:sp>
        <p:nvSpPr>
          <p:cNvPr id="106" name="Google Shape;106;p15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07" name="Google Shape;107;p15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8" name="Google Shape;108;p15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3500" y="937425"/>
            <a:ext cx="2414600" cy="243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4">
            <a:alphaModFix/>
          </a:blip>
          <a:srcRect b="-21761" l="-82556" r="-33333" t="-94127"/>
          <a:stretch/>
        </p:blipFill>
        <p:spPr>
          <a:xfrm>
            <a:off x="540075" y="-1024325"/>
            <a:ext cx="6912526" cy="483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4975" y="3296225"/>
            <a:ext cx="6537626" cy="2037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54675" y="975600"/>
            <a:ext cx="2494500" cy="239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Exploratory Data Analysis II</a:t>
            </a:r>
            <a:endParaRPr b="1" sz="1600"/>
          </a:p>
        </p:txBody>
      </p:sp>
      <p:sp>
        <p:nvSpPr>
          <p:cNvPr id="119" name="Google Shape;119;p16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20" name="Google Shape;120;p16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21" name="Google Shape;121;p16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3" name="Google Shape;12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6550" y="1195275"/>
            <a:ext cx="3553700" cy="1996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240550"/>
            <a:ext cx="3943350" cy="195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9275" y="3344725"/>
            <a:ext cx="3507501" cy="1646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65825" y="3344725"/>
            <a:ext cx="3415151" cy="162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>
            <p:ph type="title"/>
          </p:nvPr>
        </p:nvSpPr>
        <p:spPr>
          <a:xfrm>
            <a:off x="368875" y="410000"/>
            <a:ext cx="84633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Exploratory Data Analysis III</a:t>
            </a:r>
            <a:endParaRPr b="1" sz="1600"/>
          </a:p>
        </p:txBody>
      </p:sp>
      <p:sp>
        <p:nvSpPr>
          <p:cNvPr id="132" name="Google Shape;132;p17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33" name="Google Shape;133;p17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4" name="Google Shape;134;p17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6" name="Google Shape;13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875" y="1178375"/>
            <a:ext cx="2656075" cy="2652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24950" y="2627325"/>
            <a:ext cx="2617200" cy="2193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02850" y="403150"/>
            <a:ext cx="2577525" cy="211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41333" y="403150"/>
            <a:ext cx="3029970" cy="433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8"/>
          <p:cNvSpPr txBox="1"/>
          <p:nvPr>
            <p:ph type="title"/>
          </p:nvPr>
        </p:nvSpPr>
        <p:spPr>
          <a:xfrm>
            <a:off x="431925" y="410000"/>
            <a:ext cx="84003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Modeling Strategy</a:t>
            </a:r>
            <a:endParaRPr b="1" sz="16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5" name="Google Shape;145;p18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146" name="Google Shape;146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8" name="Google Shape;148;p18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49" name="Google Shape;149;p18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0" name="Google Shape;150;p18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431925" y="1338775"/>
            <a:ext cx="2494500" cy="3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Modeling Strategy</a:t>
            </a:r>
            <a:endParaRPr b="1" sz="12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Train–validation split based on time to avoid leakage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/>
              <a:t>Train: listing year before 2015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/>
              <a:t>Test: </a:t>
            </a:r>
            <a:r>
              <a:rPr lang="en" sz="1100"/>
              <a:t>listing </a:t>
            </a:r>
            <a:r>
              <a:rPr lang="en" sz="1100"/>
              <a:t>year 2015-2020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Baseline model: Ridge Regression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Advanced model: XGBoost Regressor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Evaluation metric: MAE, RMSE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sp>
        <p:nvSpPr>
          <p:cNvPr id="152" name="Google Shape;152;p18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pSp>
        <p:nvGrpSpPr>
          <p:cNvPr id="153" name="Google Shape;153;p18"/>
          <p:cNvGrpSpPr/>
          <p:nvPr/>
        </p:nvGrpSpPr>
        <p:grpSpPr>
          <a:xfrm>
            <a:off x="3416650" y="1304875"/>
            <a:ext cx="2628925" cy="3416400"/>
            <a:chOff x="431925" y="1304875"/>
            <a:chExt cx="2628925" cy="3416400"/>
          </a:xfrm>
        </p:grpSpPr>
        <p:sp>
          <p:nvSpPr>
            <p:cNvPr id="154" name="Google Shape;154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8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Target: 'adjusted_price_psm'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Categorical: 'town', 'flat_type', 'flat_model'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en" sz="1100"/>
                <a:t>Numerical: 'remaining_lease_years', </a:t>
              </a:r>
              <a:r>
                <a:rPr lang="en" sz="1100"/>
                <a:t>'floor_area_sqm','storey_mid', </a:t>
              </a:r>
              <a:r>
                <a:rPr lang="en" sz="1100"/>
                <a:t>'nearest_mrt_dist_km', 'nearest_primary_dist_km', 'dist_to_city_centre_km'</a:t>
              </a:r>
              <a:endParaRPr sz="1100"/>
            </a:p>
          </p:txBody>
        </p:sp>
      </p:grpSp>
      <p:sp>
        <p:nvSpPr>
          <p:cNvPr id="156" name="Google Shape;156;p18"/>
          <p:cNvSpPr txBox="1"/>
          <p:nvPr/>
        </p:nvSpPr>
        <p:spPr>
          <a:xfrm>
            <a:off x="3471325" y="13743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Final Features:</a:t>
            </a:r>
            <a:endParaRPr b="1"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7" name="Google Shape;157;p18"/>
          <p:cNvGrpSpPr/>
          <p:nvPr/>
        </p:nvGrpSpPr>
        <p:grpSpPr>
          <a:xfrm>
            <a:off x="6258625" y="1307802"/>
            <a:ext cx="2628900" cy="3410531"/>
            <a:chOff x="431925" y="1304875"/>
            <a:chExt cx="2628900" cy="3276522"/>
          </a:xfrm>
        </p:grpSpPr>
        <p:sp>
          <p:nvSpPr>
            <p:cNvPr id="158" name="Google Shape;158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925" y="1461697"/>
              <a:ext cx="2628900" cy="31197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1"/>
                  </a:solidFill>
                </a:rPr>
                <a:t>Model Pipeline</a:t>
              </a:r>
              <a:endParaRPr sz="1200">
                <a:solidFill>
                  <a:schemeClr val="lt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/>
                <a:t>Base model Ridge:</a:t>
              </a:r>
              <a:endParaRPr b="1"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One-Hot: Categorical Features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Numerical imputation: median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Categorica imputation: Mode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Standard scaler for num_cols</a:t>
              </a:r>
              <a:endParaRPr sz="1100"/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highlight>
                    <a:srgbClr val="FFFFFF"/>
                  </a:highlight>
                </a:rPr>
                <a:t>Tree model: </a:t>
              </a:r>
              <a:endParaRPr b="1" sz="1100">
                <a:highlight>
                  <a:srgbClr val="FFFFFF"/>
                </a:highlight>
              </a:endParaRPr>
            </a:p>
            <a:p>
              <a:pPr indent="0" lvl="0" marL="0" rtl="0" algn="l">
                <a:spcBef>
                  <a:spcPts val="1100"/>
                </a:spcBef>
                <a:spcAft>
                  <a:spcPts val="0"/>
                </a:spcAft>
                <a:buNone/>
              </a:pPr>
              <a:r>
                <a:rPr lang="en" sz="1100">
                  <a:highlight>
                    <a:srgbClr val="FFFFFF"/>
                  </a:highlight>
                </a:rPr>
                <a:t>Xgb + </a:t>
              </a:r>
              <a:r>
                <a:rPr lang="en" sz="1100">
                  <a:highlight>
                    <a:srgbClr val="FFFFFF"/>
                  </a:highlight>
                </a:rPr>
                <a:t>TimeSeriesSplit </a:t>
              </a:r>
              <a:r>
                <a:rPr lang="en" sz="1100">
                  <a:highlight>
                    <a:srgbClr val="FFFFFF"/>
                  </a:highlight>
                </a:rPr>
                <a:t>+ crossvalidation +</a:t>
              </a:r>
              <a:r>
                <a:rPr lang="en" sz="1100">
                  <a:highlight>
                    <a:srgbClr val="FFFFFF"/>
                  </a:highlight>
                </a:rPr>
                <a:t>RandomSearch</a:t>
              </a:r>
              <a:endParaRPr sz="1100">
                <a:highlight>
                  <a:srgbClr val="FFFFFF"/>
                </a:highlight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sz="110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9"/>
          <p:cNvSpPr txBox="1"/>
          <p:nvPr>
            <p:ph type="title"/>
          </p:nvPr>
        </p:nvSpPr>
        <p:spPr>
          <a:xfrm>
            <a:off x="431925" y="410000"/>
            <a:ext cx="84003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Result</a:t>
            </a:r>
            <a:endParaRPr b="1"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5" name="Google Shape;165;p19"/>
          <p:cNvGrpSpPr/>
          <p:nvPr/>
        </p:nvGrpSpPr>
        <p:grpSpPr>
          <a:xfrm>
            <a:off x="431925" y="1304872"/>
            <a:ext cx="2628925" cy="3584487"/>
            <a:chOff x="431925" y="1304875"/>
            <a:chExt cx="2628925" cy="3416400"/>
          </a:xfrm>
        </p:grpSpPr>
        <p:sp>
          <p:nvSpPr>
            <p:cNvPr id="166" name="Google Shape;166;p19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19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8" name="Google Shape;168;p19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69" name="Google Shape;169;p19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0" name="Google Shape;170;p19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431925" y="1338775"/>
            <a:ext cx="2494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Ridge</a:t>
            </a:r>
            <a:endParaRPr b="1"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pSp>
        <p:nvGrpSpPr>
          <p:cNvPr id="173" name="Google Shape;173;p19"/>
          <p:cNvGrpSpPr/>
          <p:nvPr/>
        </p:nvGrpSpPr>
        <p:grpSpPr>
          <a:xfrm>
            <a:off x="3416650" y="1304822"/>
            <a:ext cx="2628925" cy="3584487"/>
            <a:chOff x="431925" y="1304875"/>
            <a:chExt cx="2628925" cy="3416400"/>
          </a:xfrm>
        </p:grpSpPr>
        <p:sp>
          <p:nvSpPr>
            <p:cNvPr id="174" name="Google Shape;174;p19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9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Without hyperparameter tuning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With hyperparameter tuning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sz="1100"/>
            </a:p>
          </p:txBody>
        </p:sp>
      </p:grpSp>
      <p:sp>
        <p:nvSpPr>
          <p:cNvPr id="176" name="Google Shape;176;p19"/>
          <p:cNvSpPr txBox="1"/>
          <p:nvPr/>
        </p:nvSpPr>
        <p:spPr>
          <a:xfrm>
            <a:off x="3471325" y="13743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Xgb</a:t>
            </a:r>
            <a:endParaRPr b="1"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175" y="1935175"/>
            <a:ext cx="2261200" cy="9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9275" y="3592675"/>
            <a:ext cx="2157275" cy="97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17313" y="2391150"/>
            <a:ext cx="2261200" cy="83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 txBox="1"/>
          <p:nvPr/>
        </p:nvSpPr>
        <p:spPr>
          <a:xfrm>
            <a:off x="3623725" y="15267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1375" y="2859100"/>
            <a:ext cx="2609475" cy="2116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/>
          <p:cNvPicPr preferRelativeResize="0"/>
          <p:nvPr/>
        </p:nvPicPr>
        <p:blipFill rotWithShape="1">
          <a:blip r:embed="rId7">
            <a:alphaModFix/>
          </a:blip>
          <a:srcRect b="4897" l="0" r="0" t="0"/>
          <a:stretch/>
        </p:blipFill>
        <p:spPr>
          <a:xfrm>
            <a:off x="6284875" y="1304875"/>
            <a:ext cx="2494500" cy="35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Link Analysis: Understanding Housing Market Structure</a:t>
            </a:r>
            <a:endParaRPr b="1" sz="1600"/>
          </a:p>
        </p:txBody>
      </p:sp>
      <p:grpSp>
        <p:nvGrpSpPr>
          <p:cNvPr id="188" name="Google Shape;188;p20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189" name="Google Shape;189;p20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0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1" name="Google Shape;191;p20"/>
          <p:cNvSpPr txBox="1"/>
          <p:nvPr>
            <p:ph idx="4294967295" type="body"/>
          </p:nvPr>
        </p:nvSpPr>
        <p:spPr>
          <a:xfrm>
            <a:off x="506425" y="13048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2" name="Google Shape;192;p20"/>
          <p:cNvSpPr txBox="1"/>
          <p:nvPr>
            <p:ph idx="4294967295" type="body"/>
          </p:nvPr>
        </p:nvSpPr>
        <p:spPr>
          <a:xfrm>
            <a:off x="508325" y="1850300"/>
            <a:ext cx="2478600" cy="27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Traditional predictive models explain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price levels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but not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market structure</a:t>
            </a:r>
            <a:b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i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Buyers and valuers rely on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comparable transactions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Link analysis models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listings are connected via similarity</a:t>
            </a:r>
            <a:endParaRPr sz="1600"/>
          </a:p>
        </p:txBody>
      </p:sp>
      <p:sp>
        <p:nvSpPr>
          <p:cNvPr id="193" name="Google Shape;193;p20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94" name="Google Shape;194;p20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5" name="Google Shape;195;p20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196" name="Google Shape;196;p20"/>
          <p:cNvGrpSpPr/>
          <p:nvPr/>
        </p:nvGrpSpPr>
        <p:grpSpPr>
          <a:xfrm>
            <a:off x="3340325" y="1263575"/>
            <a:ext cx="2628925" cy="3416400"/>
            <a:chOff x="431925" y="1304875"/>
            <a:chExt cx="2628925" cy="3416400"/>
          </a:xfrm>
        </p:grpSpPr>
        <p:sp>
          <p:nvSpPr>
            <p:cNvPr id="197" name="Google Shape;197;p20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0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chemeClr val="lt1"/>
                  </a:solidFill>
                </a:rPr>
                <a:t>Graph Definition</a:t>
              </a:r>
              <a:endParaRPr b="1" sz="1300">
                <a:solidFill>
                  <a:schemeClr val="lt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/>
                <a:t>Nodes:</a:t>
              </a:r>
              <a:r>
                <a:rPr lang="en" sz="1100"/>
                <a:t> Individual HDB resale transactions (Jan 2017 onwards)</a:t>
              </a:r>
              <a:br>
                <a:rPr lang="en" sz="1100"/>
              </a:b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/>
                <a:t>Edges:</a:t>
              </a:r>
              <a:r>
                <a:rPr lang="en" sz="1100"/>
                <a:t> Connect comparable listings based on:</a:t>
              </a:r>
              <a:br>
                <a:rPr lang="en" sz="1100"/>
              </a:b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Same block with similar storey levels</a:t>
              </a:r>
              <a:br>
                <a:rPr lang="en" sz="1100"/>
              </a:b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en" sz="1100"/>
                <a:t>Same street, same flat type, and close transaction years</a:t>
              </a:r>
              <a:br>
                <a:rPr lang="en" sz="1100"/>
              </a:br>
              <a:endParaRPr b="1" sz="1100"/>
            </a:p>
          </p:txBody>
        </p:sp>
      </p:grpSp>
      <p:grpSp>
        <p:nvGrpSpPr>
          <p:cNvPr id="199" name="Google Shape;199;p20"/>
          <p:cNvGrpSpPr/>
          <p:nvPr/>
        </p:nvGrpSpPr>
        <p:grpSpPr>
          <a:xfrm>
            <a:off x="6248725" y="1263575"/>
            <a:ext cx="2628900" cy="3416400"/>
            <a:chOff x="3024350" y="1152475"/>
            <a:chExt cx="2628900" cy="3416400"/>
          </a:xfrm>
        </p:grpSpPr>
        <p:sp>
          <p:nvSpPr>
            <p:cNvPr id="200" name="Google Shape;200;p20"/>
            <p:cNvSpPr txBox="1"/>
            <p:nvPr/>
          </p:nvSpPr>
          <p:spPr>
            <a:xfrm>
              <a:off x="3024350" y="11524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0"/>
            <p:cNvSpPr/>
            <p:nvPr/>
          </p:nvSpPr>
          <p:spPr>
            <a:xfrm>
              <a:off x="3024350" y="11524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chemeClr val="lt1"/>
                  </a:solidFill>
                </a:rPr>
                <a:t>Key Design Principle</a:t>
              </a:r>
              <a:endParaRPr b="1" sz="1300">
                <a:solidFill>
                  <a:schemeClr val="lt1"/>
                </a:solidFill>
              </a:endParaRPr>
            </a:p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Focus on </a:t>
              </a:r>
              <a:r>
                <a:rPr b="1" lang="en" sz="1100"/>
                <a:t>comparability</a:t>
              </a:r>
              <a:r>
                <a:rPr lang="en" sz="1100"/>
                <a:t>, not price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Graph complements (not replaces) tabular price prediction</a:t>
              </a:r>
              <a:endParaRPr b="1" sz="13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based on: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Same block with similar storey levels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en" sz="1100"/>
                <a:t>Same street, same flat type, and close transaction years</a:t>
              </a:r>
              <a:br>
                <a:rPr lang="en" sz="1100"/>
              </a:br>
              <a:endParaRPr b="1" sz="110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Graph Overview &amp; Structural Properties </a:t>
            </a:r>
            <a:endParaRPr b="1"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7" name="Google Shape;207;p21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208" name="Google Shape;208;p21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21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0" name="Google Shape;210;p21"/>
          <p:cNvSpPr txBox="1"/>
          <p:nvPr>
            <p:ph idx="4294967295" type="body"/>
          </p:nvPr>
        </p:nvSpPr>
        <p:spPr>
          <a:xfrm>
            <a:off x="3571113" y="12635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11" name="Google Shape;211;p21"/>
          <p:cNvSpPr txBox="1"/>
          <p:nvPr>
            <p:ph idx="4294967295" type="body"/>
          </p:nvPr>
        </p:nvSpPr>
        <p:spPr>
          <a:xfrm>
            <a:off x="431925" y="1304875"/>
            <a:ext cx="2478600" cy="220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Graph Statistics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Nodes: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80374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Edges: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4797445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Average degree: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119.38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Density: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0.001485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 connected components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Largest component contains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97.0%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of listings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1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213" name="Google Shape;213;p21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14" name="Google Shape;214;p21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15" name="Google Shape;215;p21"/>
          <p:cNvGrpSpPr/>
          <p:nvPr/>
        </p:nvGrpSpPr>
        <p:grpSpPr>
          <a:xfrm>
            <a:off x="3370975" y="1304875"/>
            <a:ext cx="2628900" cy="3416400"/>
            <a:chOff x="3024350" y="1152475"/>
            <a:chExt cx="2628900" cy="3416400"/>
          </a:xfrm>
        </p:grpSpPr>
        <p:sp>
          <p:nvSpPr>
            <p:cNvPr id="216" name="Google Shape;216;p21"/>
            <p:cNvSpPr txBox="1"/>
            <p:nvPr/>
          </p:nvSpPr>
          <p:spPr>
            <a:xfrm>
              <a:off x="3024350" y="11524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1"/>
            <p:cNvSpPr/>
            <p:nvPr/>
          </p:nvSpPr>
          <p:spPr>
            <a:xfrm>
              <a:off x="3024350" y="11524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300"/>
            </a:p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chemeClr val="lt1"/>
                  </a:solidFill>
                </a:rPr>
                <a:t>Interpretation</a:t>
              </a:r>
              <a:endParaRPr b="1" sz="1300">
                <a:solidFill>
                  <a:schemeClr val="lt1"/>
                </a:solidFill>
              </a:endParaRPr>
            </a:p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Majority of the resale market is </a:t>
              </a:r>
              <a:r>
                <a:rPr b="1" lang="en" sz="1100"/>
                <a:t>highly interconnected</a:t>
              </a:r>
              <a:br>
                <a:rPr b="1" lang="en" sz="1100"/>
              </a:br>
              <a:endParaRPr b="1"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Most listings can be compared through chains of similar transactions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Small components represent </a:t>
              </a:r>
              <a:r>
                <a:rPr b="1" lang="en" sz="1100"/>
                <a:t>niche or sparse segments</a:t>
              </a:r>
              <a:endParaRPr b="1" sz="1100"/>
            </a:p>
            <a:p>
              <a:pPr indent="0" lvl="0" marL="381000" marR="3810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i="1" lang="en" sz="1100"/>
                <a:t>This indicates a mature and liquid housing resale market with strong comparability.</a:t>
              </a:r>
              <a:endParaRPr i="1"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b="1" sz="1300">
                <a:solidFill>
                  <a:schemeClr val="lt1"/>
                </a:solidFill>
              </a:endParaRPr>
            </a:p>
          </p:txBody>
        </p:sp>
      </p:grpSp>
      <p:pic>
        <p:nvPicPr>
          <p:cNvPr id="218" name="Google Shape;21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1263575"/>
            <a:ext cx="2478600" cy="15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8200" y="3027200"/>
            <a:ext cx="2638176" cy="1652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Micro-Markets via Connected Components</a:t>
            </a:r>
            <a:endParaRPr b="1"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5" name="Google Shape;225;p22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226" name="Google Shape;226;p22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2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8" name="Google Shape;228;p22"/>
          <p:cNvSpPr txBox="1"/>
          <p:nvPr>
            <p:ph idx="4294967295" type="body"/>
          </p:nvPr>
        </p:nvSpPr>
        <p:spPr>
          <a:xfrm>
            <a:off x="3571113" y="12635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29" name="Google Shape;229;p22"/>
          <p:cNvSpPr txBox="1"/>
          <p:nvPr>
            <p:ph idx="4294967295" type="body"/>
          </p:nvPr>
        </p:nvSpPr>
        <p:spPr>
          <a:xfrm>
            <a:off x="431925" y="1210875"/>
            <a:ext cx="2478600" cy="28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Connected components treated as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micro-markets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component groups listings that are mutually comparable</a:t>
            </a: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latin typeface="Arial"/>
                <a:ea typeface="Arial"/>
                <a:cs typeface="Arial"/>
                <a:sym typeface="Arial"/>
              </a:rPr>
              <a:t>Observations</a:t>
            </a:r>
            <a:endParaRPr b="1" sz="13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dominant component captures mainstream housing segments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Smaller components often show: Higher average prices, Greater price volatility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2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31" name="Google Shape;231;p22"/>
          <p:cNvGrpSpPr/>
          <p:nvPr/>
        </p:nvGrpSpPr>
        <p:grpSpPr>
          <a:xfrm>
            <a:off x="3378725" y="1304956"/>
            <a:ext cx="2628900" cy="3416242"/>
            <a:chOff x="3024350" y="1152475"/>
            <a:chExt cx="2628900" cy="3225000"/>
          </a:xfrm>
        </p:grpSpPr>
        <p:sp>
          <p:nvSpPr>
            <p:cNvPr id="232" name="Google Shape;232;p22"/>
            <p:cNvSpPr txBox="1"/>
            <p:nvPr/>
          </p:nvSpPr>
          <p:spPr>
            <a:xfrm>
              <a:off x="3024350" y="11524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22"/>
            <p:cNvSpPr/>
            <p:nvPr/>
          </p:nvSpPr>
          <p:spPr>
            <a:xfrm>
              <a:off x="3024350" y="1152475"/>
              <a:ext cx="2628900" cy="32250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chemeClr val="lt1"/>
                  </a:solidFill>
                </a:rPr>
                <a:t>Connected Components Reveal Micro-Markets Beyond Town </a:t>
              </a:r>
              <a:endParaRPr sz="1100">
                <a:solidFill>
                  <a:schemeClr val="lt1"/>
                </a:solidFill>
              </a:endParaRPr>
            </a:p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Several smaller components exhibit significantly higher mean prices and low price variance.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These components likely represent structurally homogeneous micro-markets that are weakly connected to the broader market.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Importantly, these clusters are not aligned with town boundaries, highlighting the limitation of purely location-based analysis.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b="1" sz="1300">
                <a:solidFill>
                  <a:schemeClr val="lt1"/>
                </a:solidFill>
              </a:endParaRPr>
            </a:p>
          </p:txBody>
        </p:sp>
      </p:grpSp>
      <p:pic>
        <p:nvPicPr>
          <p:cNvPr id="234" name="Google Shape;23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5825" y="1304875"/>
            <a:ext cx="2478600" cy="2226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23850" y="2746500"/>
            <a:ext cx="2668174" cy="197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Degree Centrality: Reference Listings</a:t>
            </a:r>
            <a:endParaRPr b="1"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1" name="Google Shape;241;p23"/>
          <p:cNvGrpSpPr/>
          <p:nvPr/>
        </p:nvGrpSpPr>
        <p:grpSpPr>
          <a:xfrm>
            <a:off x="431946" y="1304875"/>
            <a:ext cx="2320026" cy="3416400"/>
            <a:chOff x="431925" y="1304875"/>
            <a:chExt cx="2628925" cy="3416400"/>
          </a:xfrm>
        </p:grpSpPr>
        <p:sp>
          <p:nvSpPr>
            <p:cNvPr id="242" name="Google Shape;242;p23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23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4" name="Google Shape;244;p23"/>
          <p:cNvSpPr txBox="1"/>
          <p:nvPr>
            <p:ph idx="4294967295" type="body"/>
          </p:nvPr>
        </p:nvSpPr>
        <p:spPr>
          <a:xfrm>
            <a:off x="3571113" y="12635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45" name="Google Shape;245;p23"/>
          <p:cNvSpPr txBox="1"/>
          <p:nvPr>
            <p:ph idx="4294967295" type="body"/>
          </p:nvPr>
        </p:nvSpPr>
        <p:spPr>
          <a:xfrm>
            <a:off x="431925" y="1210875"/>
            <a:ext cx="2353200" cy="28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Degree Centrality?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Measures how many similar listings a transaction is connected to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 degree 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many comparables → strong reference value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3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47" name="Google Shape;247;p23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48" name="Google Shape;248;p23"/>
          <p:cNvGrpSpPr/>
          <p:nvPr/>
        </p:nvGrpSpPr>
        <p:grpSpPr>
          <a:xfrm>
            <a:off x="3021250" y="1304875"/>
            <a:ext cx="2628925" cy="3416400"/>
            <a:chOff x="431925" y="1304875"/>
            <a:chExt cx="2628925" cy="3416400"/>
          </a:xfrm>
        </p:grpSpPr>
        <p:sp>
          <p:nvSpPr>
            <p:cNvPr id="249" name="Google Shape;249;p23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3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t/>
              </a:r>
              <a:endParaRPr sz="1100"/>
            </a:p>
          </p:txBody>
        </p:sp>
      </p:grpSp>
      <p:sp>
        <p:nvSpPr>
          <p:cNvPr id="251" name="Google Shape;251;p23"/>
          <p:cNvSpPr txBox="1"/>
          <p:nvPr/>
        </p:nvSpPr>
        <p:spPr>
          <a:xfrm>
            <a:off x="3021250" y="1301425"/>
            <a:ext cx="2494500" cy="3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Findings</a:t>
            </a:r>
            <a:endParaRPr b="1" sz="13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High-centrality listings are typically: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In towns with high transaction volume (e.g. Yishun, Ang Mo Kio)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Standard flat types and layouts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These listings act as </a:t>
            </a:r>
            <a:r>
              <a:rPr b="1" lang="en" sz="1100"/>
              <a:t>market benchmarks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/>
              <a:t>High centrality Is not equal to high price. </a:t>
            </a:r>
            <a:r>
              <a:rPr i="1" lang="en" sz="1100"/>
              <a:t>Centrality captures market representativeness, not price premium</a:t>
            </a:r>
            <a:endParaRPr b="1" sz="1100"/>
          </a:p>
        </p:txBody>
      </p:sp>
      <p:pic>
        <p:nvPicPr>
          <p:cNvPr id="252" name="Google Shape;25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6950" y="1219075"/>
            <a:ext cx="2790525" cy="28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6950" y="2944650"/>
            <a:ext cx="2920276" cy="177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Takeaways</a:t>
            </a:r>
            <a:endParaRPr b="1" sz="1600"/>
          </a:p>
        </p:txBody>
      </p:sp>
      <p:grpSp>
        <p:nvGrpSpPr>
          <p:cNvPr id="259" name="Google Shape;259;p24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260" name="Google Shape;260;p2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2" name="Google Shape;262;p24"/>
          <p:cNvSpPr txBox="1"/>
          <p:nvPr>
            <p:ph idx="4294967295" type="body"/>
          </p:nvPr>
        </p:nvSpPr>
        <p:spPr>
          <a:xfrm>
            <a:off x="508325" y="1228675"/>
            <a:ext cx="2478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Key Insights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resale market is highly connected via comparable listings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Micro-markets exist even within the same town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Representative listings can be identified structurally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4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264" name="Google Shape;264;p24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65" name="Google Shape;265;p24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66" name="Google Shape;266;p24"/>
          <p:cNvGrpSpPr/>
          <p:nvPr/>
        </p:nvGrpSpPr>
        <p:grpSpPr>
          <a:xfrm>
            <a:off x="3416650" y="1263575"/>
            <a:ext cx="2628925" cy="3416400"/>
            <a:chOff x="431925" y="1304875"/>
            <a:chExt cx="2628925" cy="3416400"/>
          </a:xfrm>
        </p:grpSpPr>
        <p:sp>
          <p:nvSpPr>
            <p:cNvPr id="267" name="Google Shape;267;p2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2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9" name="Google Shape;269;p24"/>
          <p:cNvSpPr txBox="1"/>
          <p:nvPr/>
        </p:nvSpPr>
        <p:spPr>
          <a:xfrm>
            <a:off x="3289150" y="1304875"/>
            <a:ext cx="2528100" cy="34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Alignment with Tabular Model</a:t>
            </a:r>
            <a:endParaRPr b="1" sz="13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Graph similarity rules align with key predictive features:</a:t>
            </a:r>
            <a:br>
              <a:rPr lang="en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Town, flat type</a:t>
            </a:r>
            <a:br>
              <a:rPr lang="en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Storey level, floor area</a:t>
            </a:r>
            <a:br>
              <a:rPr lang="en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Distance-based features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Ensures analytical consistency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sp>
        <p:nvSpPr>
          <p:cNvPr id="270" name="Google Shape;270;p24"/>
          <p:cNvSpPr txBox="1"/>
          <p:nvPr/>
        </p:nvSpPr>
        <p:spPr>
          <a:xfrm>
            <a:off x="152400" y="152400"/>
            <a:ext cx="3000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grpSp>
        <p:nvGrpSpPr>
          <p:cNvPr id="271" name="Google Shape;271;p24"/>
          <p:cNvGrpSpPr/>
          <p:nvPr/>
        </p:nvGrpSpPr>
        <p:grpSpPr>
          <a:xfrm>
            <a:off x="6269792" y="1228675"/>
            <a:ext cx="2478550" cy="3416400"/>
            <a:chOff x="431925" y="1304875"/>
            <a:chExt cx="2628925" cy="3416400"/>
          </a:xfrm>
        </p:grpSpPr>
        <p:sp>
          <p:nvSpPr>
            <p:cNvPr id="272" name="Google Shape;272;p2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4" name="Google Shape;274;p24"/>
          <p:cNvSpPr txBox="1"/>
          <p:nvPr/>
        </p:nvSpPr>
        <p:spPr>
          <a:xfrm>
            <a:off x="6269800" y="1228675"/>
            <a:ext cx="2327100" cy="3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Practical Implications</a:t>
            </a:r>
            <a:endParaRPr b="1" sz="13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Supports more robust valuation through comparables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Helps identify segments with limited comparability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Provides interpretable structure to complement ML predictions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5"/>
          <p:cNvSpPr txBox="1"/>
          <p:nvPr>
            <p:ph type="title"/>
          </p:nvPr>
        </p:nvSpPr>
        <p:spPr>
          <a:xfrm>
            <a:off x="3726300" y="2152350"/>
            <a:ext cx="50940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Thank you!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